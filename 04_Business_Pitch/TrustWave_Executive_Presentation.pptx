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D2F5"/>
                </a:solidFill>
                <a:latin typeface="Calibri"/>
              </a:defRPr>
            </a:pPr>
            <a:r>
              <a:t>TRUSTWAVE BANK</a:t>
            </a:r>
          </a:p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Customer Engagement &amp; Service Insights</a:t>
            </a:r>
          </a:p>
          <a:p>
            <a:pPr>
              <a:defRPr sz="1800">
                <a:solidFill>
                  <a:srgbClr val="DCE6F2"/>
                </a:solidFill>
                <a:latin typeface="Calibri"/>
              </a:defRPr>
            </a:pPr>
            <a:r>
              <a:t>Discover Service Patterns | Identify Weak Engagement | Drive Operational Excellence</a:t>
            </a:r>
          </a:p>
          <a:p>
            <a:br/>
            <a:pPr>
              <a:defRPr sz="1400" i="1">
                <a:solidFill>
                  <a:srgbClr val="B4C3D2"/>
                </a:solidFill>
                <a:latin typeface="Calibri"/>
              </a:defRPr>
            </a:pPr>
            <a:r>
              <a:t>DS Sprint - Skill Based Assessment 2 (Use Case 08) | Business Pitch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Executive Summary: Business Context &amp; Overview</a:t>
            </a:r>
          </a:p>
          <a:p>
            <a:pPr>
              <a:defRPr sz="1300">
                <a:solidFill>
                  <a:srgbClr val="C8DCF0"/>
                </a:solidFill>
                <a:latin typeface="Calibri"/>
              </a:defRPr>
            </a:pPr>
            <a:r>
              <a:t>TrustWave Bank Customer Engagement &amp; Operational Diagnostic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3600" b="1">
                <a:solidFill>
                  <a:srgbClr val="1F4E78"/>
                </a:solidFill>
                <a:latin typeface="Calibri"/>
              </a:defRPr>
            </a:pPr>
            <a:r>
              <a:t>70.1%</a:t>
            </a:r>
          </a:p>
          <a:p>
            <a:pPr>
              <a:defRPr sz="1500" b="1">
                <a:solidFill>
                  <a:srgbClr val="323232"/>
                </a:solidFill>
                <a:latin typeface="Calibri"/>
              </a:defRPr>
            </a:pPr>
            <a:r>
              <a:t>Digital Touchpoint Share</a:t>
            </a:r>
          </a:p>
          <a:p>
            <a:pPr>
              <a:defRPr sz="1200">
                <a:solidFill>
                  <a:srgbClr val="595959"/>
                </a:solidFill>
                <a:latin typeface="Calibri"/>
              </a:defRPr>
            </a:pPr>
            <a:r>
              <a:t>10,045 out of 12,371 monthly interactions occur via Mobile and Internet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28016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3600" b="1">
                <a:solidFill>
                  <a:srgbClr val="1F4E78"/>
                </a:solidFill>
                <a:latin typeface="Calibri"/>
              </a:defRPr>
            </a:pPr>
            <a:r>
              <a:t>52.4%</a:t>
            </a:r>
          </a:p>
          <a:p>
            <a:pPr>
              <a:defRPr sz="1500" b="1">
                <a:solidFill>
                  <a:srgbClr val="323232"/>
                </a:solidFill>
                <a:latin typeface="Calibri"/>
              </a:defRPr>
            </a:pPr>
            <a:r>
              <a:t>Regional Complaint Focus</a:t>
            </a:r>
          </a:p>
          <a:p>
            <a:pPr>
              <a:defRPr sz="1200">
                <a:solidFill>
                  <a:srgbClr val="595959"/>
                </a:solidFill>
                <a:latin typeface="Calibri"/>
              </a:defRPr>
            </a:pPr>
            <a:r>
              <a:t>262 out of 500 total complaints originate from North and South regions combined.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28016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3600" b="1">
                <a:solidFill>
                  <a:srgbClr val="1F4E78"/>
                </a:solidFill>
                <a:latin typeface="Calibri"/>
              </a:defRPr>
            </a:pPr>
            <a:r>
              <a:t>55.8%</a:t>
            </a:r>
          </a:p>
          <a:p>
            <a:pPr>
              <a:defRPr sz="1500" b="1">
                <a:solidFill>
                  <a:srgbClr val="323232"/>
                </a:solidFill>
                <a:latin typeface="Calibri"/>
              </a:defRPr>
            </a:pPr>
            <a:r>
              <a:t>Repetitive Request Volume</a:t>
            </a:r>
          </a:p>
          <a:p>
            <a:pPr>
              <a:defRPr sz="1200">
                <a:solidFill>
                  <a:srgbClr val="595959"/>
                </a:solidFill>
                <a:latin typeface="Calibri"/>
              </a:defRPr>
            </a:pPr>
            <a:r>
              <a:t>Loan queries, statement requests, and password resets dominate total service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9441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1F4E78"/>
                </a:solidFill>
                <a:latin typeface="Calibri"/>
              </a:defRPr>
            </a:pPr>
            <a:r>
              <a:t>Key Strategic Assessment Questions Solved: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323232"/>
                </a:solidFill>
              </a:rPr>
              <a:t>•  Channel Usage Pattern: </a:t>
            </a:r>
            <a:r>
              <a:rPr>
                <a:solidFill>
                  <a:srgbClr val="595959"/>
                </a:solidFill>
              </a:rPr>
              <a:t>Mobile Banking is the primary channel (7,011 usage count), followed by Internet Banking (3,034 count). Branch usage is lowest (735 count) but incurs the highest operational cost.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323232"/>
                </a:solidFill>
              </a:rPr>
              <a:t>•  Demographic Shift: </a:t>
            </a:r>
            <a:r>
              <a:rPr>
                <a:solidFill>
                  <a:srgbClr val="595959"/>
                </a:solidFill>
              </a:rPr>
              <a:t>Digital adoption is near universal among under-35s. Customers aged 51+ maintain 2x higher branch interaction rates, presenting an onboarding migration opportunity.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323232"/>
                </a:solidFill>
              </a:rPr>
              <a:t>•  Service Bottlenecks: </a:t>
            </a:r>
            <a:r>
              <a:rPr>
                <a:solidFill>
                  <a:srgbClr val="595959"/>
                </a:solidFill>
              </a:rPr>
              <a:t>North and South regions generate severe complaint density. Over 15% of complaints remain unresolved due to incomplete records and slow response SLAs.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Channel Usage &amp; Demographic Analysis</a:t>
            </a:r>
          </a:p>
          <a:p>
            <a:pPr>
              <a:defRPr sz="1300">
                <a:solidFill>
                  <a:srgbClr val="C8DCF0"/>
                </a:solidFill>
                <a:latin typeface="Calibri"/>
              </a:defRPr>
            </a:pPr>
            <a:r>
              <a:t>Understanding Customer Interaction Preferences Across Age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Channel Usage Dynamics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Summary of 12,371 Total Interaction Touchpoints</a:t>
            </a:r>
            <a:br/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Mobile Dominance (56.7%): </a:t>
            </a:r>
            <a:r>
              <a:rPr sz="1200">
                <a:solidFill>
                  <a:srgbClr val="595959"/>
                </a:solidFill>
              </a:rPr>
              <a:t>7,011 total interactions. Serves as the primary daily touchpoint across all segments.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Internet Banking (24.5%): </a:t>
            </a:r>
            <a:r>
              <a:rPr sz="1200">
                <a:solidFill>
                  <a:srgbClr val="595959"/>
                </a:solidFill>
              </a:rPr>
              <a:t>3,034 interactions. Used heavily for complex transfers and statement reviews.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ATM Transactions (12.9%): </a:t>
            </a:r>
            <a:r>
              <a:rPr sz="1200">
                <a:solidFill>
                  <a:srgbClr val="595959"/>
                </a:solidFill>
              </a:rPr>
              <a:t>1,591 interactions. Primary cash access channel across mid-tier accounts.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Branch Visits (6.0%): </a:t>
            </a:r>
            <a:r>
              <a:rPr sz="1200">
                <a:solidFill>
                  <a:srgbClr val="595959"/>
                </a:solidFill>
              </a:rPr>
              <a:t>735 interactions. Low overall volume but represents 65%+ of cost burden.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280160"/>
            <a:ext cx="548640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Age Band Behavior &amp; Service Shift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How Banking Needs Differ Across Generations</a:t>
            </a:r>
            <a:br/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Gen Z / Young Adult (18-25): </a:t>
            </a:r>
            <a:r>
              <a:rPr sz="1200">
                <a:solidFill>
                  <a:srgbClr val="595959"/>
                </a:solidFill>
              </a:rPr>
              <a:t>14.2 avg mobile visits/mo. Highest mobile usage share (&gt;80%), zero reliance on physical branches.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Early Career (26-35): </a:t>
            </a:r>
            <a:r>
              <a:rPr sz="1200">
                <a:solidFill>
                  <a:srgbClr val="595959"/>
                </a:solidFill>
              </a:rPr>
              <a:t>13.6 mobile, 6.2 internet visits/mo. Multi-channel digital users with high transaction counts.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Prime Working (36-50): </a:t>
            </a:r>
            <a:r>
              <a:rPr sz="1200">
                <a:solidFill>
                  <a:srgbClr val="595959"/>
                </a:solidFill>
              </a:rPr>
              <a:t>14.1 mobile, 6.1 internet visits/mo. Balanced engagement across mobile app and web portal.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Senior Segments (51-65 &amp; 65+): </a:t>
            </a:r>
            <a:r>
              <a:rPr sz="1200">
                <a:solidFill>
                  <a:srgbClr val="595959"/>
                </a:solidFill>
              </a:rPr>
              <a:t>14.4 mobile visits/mo, but maintain 1.5 branch visits/mo (2x higher than under-35s). Requires guided digital support to transition remaining branch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Account Activity &amp; Balance Distribution</a:t>
            </a:r>
          </a:p>
          <a:p>
            <a:pPr>
              <a:defRPr sz="1300">
                <a:solidFill>
                  <a:srgbClr val="C8DCF0"/>
                </a:solidFill>
                <a:latin typeface="Calibri"/>
              </a:defRPr>
            </a:pPr>
            <a:r>
              <a:t>Evaluating Product Engagement, Declining Trends, and Wealth Tiers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Account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Customer Base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Total Tx Volume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Avg Tx Amount ($)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Activity Status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154 Customers (30.8%)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148 Transactions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$167.45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Active / High Core Engagement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Checking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116 Customers (23.2%)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116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$182.10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Active / Daily Operational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121 Customers (24.2%)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121 Transactions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$145.30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Declining Velocity / Needs Stimulus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Fixed Deposit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109 Customers (21.8%)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115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$152.80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Passive / Low Post-Opening Touchpoints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3657600"/>
            <a:ext cx="1109441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1F4E78"/>
                </a:solidFill>
              </a:defRPr>
            </a:pPr>
            <a:r>
              <a:t>Balance Band Distribution &amp; Segment Highlights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•  Low Balance Band (&lt;$1k): </a:t>
            </a:r>
            <a:r>
              <a:rPr sz="1200">
                <a:solidFill>
                  <a:srgbClr val="595959"/>
                </a:solidFill>
              </a:rPr>
              <a:t>Accounts for 35% of total customer base (175 customers). High transaction frequency but low average balances. High sensitivity to service fees.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•  Medium Balance Band ($1k-$10k): </a:t>
            </a:r>
            <a:r>
              <a:rPr sz="1200">
                <a:solidFill>
                  <a:srgbClr val="595959"/>
                </a:solidFill>
              </a:rPr>
              <a:t>Largest core revenue driver representing 40% of customers (200 customers). Moderate mobile usage with steady transaction velocity.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•  High &amp; VHNW Bands (&gt;$10k): </a:t>
            </a:r>
            <a:r>
              <a:rPr sz="1200">
                <a:solidFill>
                  <a:srgbClr val="595959"/>
                </a:solidFill>
              </a:rPr>
              <a:t>Consists of 25% of customers (125 customers). High value base driving major deposit volume. Shows declining interaction frequency in Fixed Deposit accounts.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•  Declining Activity Trigger: </a:t>
            </a:r>
            <a:r>
              <a:rPr sz="1200">
                <a:solidFill>
                  <a:srgbClr val="595959"/>
                </a:solidFill>
              </a:rPr>
              <a:t>Fixed Deposit and Current account segments exhibit flat transaction growth post-onboarding, indicating customer attrition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Regional Complaint Analysis &amp; Service Friction</a:t>
            </a:r>
          </a:p>
          <a:p>
            <a:pPr>
              <a:defRPr sz="1300">
                <a:solidFill>
                  <a:srgbClr val="C8DCF0"/>
                </a:solidFill>
                <a:latin typeface="Calibri"/>
              </a:defRPr>
            </a:pPr>
            <a:r>
              <a:t>Identifying Service Operational Failure Points and Complaint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Regional Complaint Concentration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Total Complaints Logged: 500 Records</a:t>
            </a:r>
            <a:br/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North Region (139 Complaints - 27.8%): </a:t>
            </a:r>
            <a:r>
              <a:rPr sz="1200">
                <a:solidFill>
                  <a:srgbClr val="595959"/>
                </a:solidFill>
              </a:rPr>
              <a:t>Highest complaint volume across the bank. Driven by app crashes and unresolved ticket backlogs.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South Region (123 Complaints - 24.6%): </a:t>
            </a:r>
            <a:r>
              <a:rPr sz="1200">
                <a:solidFill>
                  <a:srgbClr val="595959"/>
                </a:solidFill>
              </a:rPr>
              <a:t>Second highest friction point. Long wait times and staff behavior disputes dominate.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East Region (104 Complaints - 20.8%): </a:t>
            </a:r>
            <a:r>
              <a:rPr sz="1200">
                <a:solidFill>
                  <a:srgbClr val="595959"/>
                </a:solidFill>
              </a:rPr>
              <a:t>Moderate complaint level. Primary issues revolve around incorrect fee charges.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Central &amp; West Regions (134 Complaints - 26.8%): </a:t>
            </a:r>
            <a:r>
              <a:rPr sz="1200">
                <a:solidFill>
                  <a:srgbClr val="595959"/>
                </a:solidFill>
              </a:rPr>
              <a:t>Lowest complaint rates with higher resolution satisfaction rates (&gt;82%).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280160"/>
            <a:ext cx="548640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Service Request Drivers &amp; Resolution SLAs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Root Cause Analysis of Operational Friction</a:t>
            </a:r>
            <a:br/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Loan Status Queries (95 Requests): </a:t>
            </a:r>
            <a:r>
              <a:rPr sz="1200">
                <a:solidFill>
                  <a:srgbClr val="595959"/>
                </a:solidFill>
              </a:rPr>
              <a:t>Top service request category. Customers lack real-time digital visibility into application progress.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Statement Requests (88 Requests): </a:t>
            </a:r>
            <a:r>
              <a:rPr sz="1200">
                <a:solidFill>
                  <a:srgbClr val="595959"/>
                </a:solidFill>
              </a:rPr>
              <a:t>High repeat demand. Indicates opportunity for automated monthly push notifications via app/email.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Password Resets (84 Requests): </a:t>
            </a:r>
            <a:r>
              <a:rPr sz="1200">
                <a:solidFill>
                  <a:srgbClr val="595959"/>
                </a:solidFill>
              </a:rPr>
              <a:t>Heavy burden on support desks. Requires streamlined automated self-service recovery.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23232"/>
                </a:solidFill>
              </a:rPr>
              <a:t>•  Unresolved Ticket Rate (15.2%): </a:t>
            </a:r>
            <a:r>
              <a:rPr sz="1200">
                <a:solidFill>
                  <a:srgbClr val="595959"/>
                </a:solidFill>
              </a:rPr>
              <a:t>50+ records marked incomplete or pending due to missing resolution tags and slow branch escalation protocols.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Strategic Business Recommendations</a:t>
            </a:r>
          </a:p>
          <a:p>
            <a:pPr>
              <a:defRPr sz="1300">
                <a:solidFill>
                  <a:srgbClr val="C8DCF0"/>
                </a:solidFill>
                <a:latin typeface="Calibri"/>
              </a:defRPr>
            </a:pPr>
            <a:r>
              <a:t>Data-Driven Actions to Improve Engagement, Resolve Friction &amp; Reduce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291840" cy="1051560"/>
          </a:xfrm>
          <a:prstGeom prst="round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Deploy Self-Service Automation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Automate Top Service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280160"/>
            <a:ext cx="7711135" cy="1051560"/>
          </a:xfrm>
          <a:prstGeom prst="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Implement an AI Conversational Agent in the mobile app to handle automated Loan Query updates, instant statement generation, and biometric Password Resets. Target 40% ticket reduction.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3291840" cy="1051560"/>
          </a:xfrm>
          <a:prstGeom prst="round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Conduct North/South SLA Audits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Target High-Complaint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2514600"/>
            <a:ext cx="7711135" cy="1051560"/>
          </a:xfrm>
          <a:prstGeom prst="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Re-engineer customer service processes in North and South branches. Establish strict 24-hour SLA targets for complaint resolution and enforce mandatory resolution tracking to eliminate missing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3291840" cy="1051560"/>
          </a:xfrm>
          <a:prstGeom prst="round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Launch 'Digital Assist' Program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Senior Segment Enablement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749039"/>
            <a:ext cx="7711135" cy="1051560"/>
          </a:xfrm>
          <a:prstGeom prst="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Create guided branch digital onboarding for customers aged 51+. Migrate routine balance checks and transfer visits to mobile app to lower high-cost branch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3291840" cy="1051560"/>
          </a:xfrm>
          <a:prstGeom prst="round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Activate Inactive Account Nurture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Stimulate Declining Accounts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4983480"/>
            <a:ext cx="7711135" cy="1051560"/>
          </a:xfrm>
          <a:prstGeom prst="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Deploy automated email/SMS engagement campaigns with balance incentives for Fixed Deposit and Current account holders showing zero activity over 60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Expected Business Impact &amp; Implementation Roadmap</a:t>
            </a:r>
          </a:p>
          <a:p>
            <a:pPr>
              <a:defRPr sz="1300">
                <a:solidFill>
                  <a:srgbClr val="C8DCF0"/>
                </a:solidFill>
                <a:latin typeface="Calibri"/>
              </a:defRPr>
            </a:pPr>
            <a:r>
              <a:t>Projected Operational Returns, Efficiency Gains, and Immediate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1F4E78"/>
                </a:solidFill>
              </a:defRPr>
            </a:pPr>
            <a:r>
              <a:t>35% Cost Reduction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Lower Support Overhead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Automating loan queries and password resets will eliminate ~2,000 manual ticket handling hours annually.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28016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1F4E78"/>
                </a:solidFill>
              </a:defRPr>
            </a:pPr>
            <a:r>
              <a:t>95%+ SLA Rate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Improved Customer Trust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Process overhaul in North/South regions will raise complaint resolution rates from 84.8% to over 95%.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28016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1F4E78"/>
                </a:solidFill>
              </a:defRPr>
            </a:pPr>
            <a:r>
              <a:t>25% Branch Migration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Optimized Channel Mix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Senior Digital Assist program will migrate routine physical visits to mobile, optimizing branch cost structure.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56616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Deliverables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Accountable Lead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Phase 1: Quick Wins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Months 1 - 2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Launch automated password reset &amp; loan status tracking in mobile app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Head of Digital Banking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Phase 2: Operational Overhaul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Months 3 - 4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Audit North/South branch SLA workflows &amp; establish ticket tagging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Head of Branch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Phase 3: Adoption &amp; Retention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Months 5 - 6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Roll out Senior 'Digital Assist' workshops &amp; account reactivation triggers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Head of Customer Experience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